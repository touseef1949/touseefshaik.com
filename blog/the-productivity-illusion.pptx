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203533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FIELD NOTE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10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3611017"/>
            <a:ext cx="8711946" cy="4101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50" b="1" spc="-415" kern="0" dirty="0">
                <a:solidFill>
                  <a:srgbClr val="1C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Productivity Illusion.</a:t>
            </a:r>
            <a:endParaRPr lang="en-US" sz="11850" dirty="0"/>
          </a:p>
        </p:txBody>
      </p:sp>
      <p:sp>
        <p:nvSpPr>
          <p:cNvPr id="6" name="Text 4"/>
          <p:cNvSpPr/>
          <p:nvPr/>
        </p:nvSpPr>
        <p:spPr>
          <a:xfrm>
            <a:off x="914400" y="8207648"/>
            <a:ext cx="8044815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150" i="1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hours of input can feel like output — and leave nothing behind.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14400" y="11672888"/>
            <a:ext cx="517277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85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TOUSEEF SHAIK · TOUSEEFSHAIK.COM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8295010" y="11672888"/>
            <a:ext cx="11537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1B4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SWIPE →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169612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THESIS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4060999"/>
            <a:ext cx="8711946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0" b="1" spc="-252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</a:t>
            </a:r>
            <a:pPr algn="l" indent="0" marL="0">
              <a:lnSpc>
                <a:spcPct val="100000"/>
              </a:lnSpc>
              <a:buNone/>
            </a:pPr>
            <a:r>
              <a:rPr lang="en-US" sz="8400" b="1" spc="-252" kern="0" dirty="0">
                <a:solidFill>
                  <a:srgbClr val="1C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</a:t>
            </a:r>
            <a:pPr algn="l" indent="0" marL="0">
              <a:lnSpc>
                <a:spcPct val="100000"/>
              </a:lnSpc>
              <a:buNone/>
            </a:pPr>
            <a:r>
              <a:rPr lang="en-US" sz="8400" b="1" spc="-252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 </a:t>
            </a:r>
            <a:pPr algn="l" indent="0" marL="0">
              <a:lnSpc>
                <a:spcPct val="100000"/>
              </a:lnSpc>
              <a:buNone/>
            </a:pPr>
            <a:r>
              <a:rPr lang="en-US" sz="8400" b="1" spc="-252" kern="0" dirty="0">
                <a:solidFill>
                  <a:srgbClr val="1C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consumes you.</a:t>
            </a:r>
            <a:endParaRPr lang="en-US" sz="8400" dirty="0"/>
          </a:p>
        </p:txBody>
      </p:sp>
      <p:sp>
        <p:nvSpPr>
          <p:cNvPr id="6" name="Shape 4"/>
          <p:cNvSpPr/>
          <p:nvPr/>
        </p:nvSpPr>
        <p:spPr>
          <a:xfrm>
            <a:off x="914400" y="10136535"/>
            <a:ext cx="81915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393710"/>
            <a:ext cx="90106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1B4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SCIENCE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14400" y="10703272"/>
            <a:ext cx="843724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Self-made beats received. In study after study, information people generate themselves is recalled far better than the same information they only read.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11491913"/>
            <a:ext cx="90106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THE GENERATION EFFECT · SLAMECKA &amp; GRAF, 1978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914400" y="11672888"/>
            <a:ext cx="93040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PRODUCTIVITY ILLUSION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152652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FRAME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2664619"/>
            <a:ext cx="930402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16" kern="0" dirty="0">
                <a:solidFill>
                  <a:srgbClr val="1C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verbs.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914400" y="4142854"/>
            <a:ext cx="8458200" cy="9525"/>
          </a:xfrm>
          <a:prstGeom prst="rect">
            <a:avLst/>
          </a:prstGeom>
          <a:solidFill>
            <a:srgbClr val="1C1A15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419079"/>
            <a:ext cx="35623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457700" y="4714354"/>
            <a:ext cx="15445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it in.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14400" y="6628879"/>
            <a:ext cx="8458200" cy="9525"/>
          </a:xfrm>
          <a:prstGeom prst="rect">
            <a:avLst/>
          </a:prstGeom>
          <a:solidFill>
            <a:srgbClr val="1C1A15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5385867"/>
            <a:ext cx="8458200" cy="9525"/>
          </a:xfrm>
          <a:prstGeom prst="rect">
            <a:avLst/>
          </a:prstGeom>
          <a:solidFill>
            <a:srgbClr val="1C1A15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662092"/>
            <a:ext cx="35623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457700" y="5957367"/>
            <a:ext cx="374046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it into something.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7171804"/>
            <a:ext cx="824103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isn't the material. It's what you do at the moment of contact.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14400" y="8657704"/>
            <a:ext cx="81915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8914879"/>
            <a:ext cx="90106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1B4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SCIENCE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14400" y="9224442"/>
            <a:ext cx="843724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Producing roughly doubles what you keep — learners who retrieve and make things recall about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week later, versus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29%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passive review.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10013082"/>
            <a:ext cx="90106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RETRIEVAL-PRACTICE RESEARCH · KARPICKE &amp; ROEDIGER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14400" y="11672888"/>
            <a:ext cx="93040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PRODUCTIVITY ILLUSION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186573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 01–04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414463"/>
            <a:ext cx="10193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8564240" y="1414463"/>
            <a:ext cx="8845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1B4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914400" y="4100513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25780" y="4452938"/>
            <a:ext cx="42748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b="1" spc="-3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a meal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762500" y="4469606"/>
            <a:ext cx="7620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0" y="4462463"/>
            <a:ext cx="42748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 the meal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14400" y="5300663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" y="5653088"/>
            <a:ext cx="42748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b="1" spc="-3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a song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762500" y="5669756"/>
            <a:ext cx="7620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0" y="5662613"/>
            <a:ext cx="42748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two notes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14400" y="6500813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" y="7086600"/>
            <a:ext cx="42748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b="1" spc="-3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book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4762500" y="7103269"/>
            <a:ext cx="7620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86400" y="6853238"/>
            <a:ext cx="400278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how it changed you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14400" y="9367838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8167687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" y="8520113"/>
            <a:ext cx="42748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b="1" spc="-3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 tutorial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4762500" y="8536781"/>
            <a:ext cx="7620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86400" y="8529638"/>
            <a:ext cx="42748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thing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14400" y="11672888"/>
            <a:ext cx="93040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 →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186573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 05–08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414463"/>
            <a:ext cx="10193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8564240" y="1414463"/>
            <a:ext cx="8845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1B4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914400" y="4081463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25780" y="4433888"/>
            <a:ext cx="42748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b="1" spc="-3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course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762500" y="4450556"/>
            <a:ext cx="7620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0" y="4443413"/>
            <a:ext cx="42748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one lesson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14400" y="5281613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" y="5634038"/>
            <a:ext cx="42748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b="1" spc="-3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the feed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762500" y="5650706"/>
            <a:ext cx="7620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0" y="5643563"/>
            <a:ext cx="42748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your own take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14400" y="6481763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" y="6834188"/>
            <a:ext cx="42748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b="1" spc="-3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article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4762500" y="6850856"/>
            <a:ext cx="7620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86400" y="6843713"/>
            <a:ext cx="42748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notes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14400" y="9386888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7681912"/>
            <a:ext cx="84582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97814" y="8034338"/>
            <a:ext cx="4002786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b="1" spc="-3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experts' debate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4762500" y="8303419"/>
            <a:ext cx="7620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86400" y="8053387"/>
            <a:ext cx="400278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your own position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14400" y="11672888"/>
            <a:ext cx="93040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PRODUCTIVITY ILLUSION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135691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FORK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447800" y="4010695"/>
            <a:ext cx="2857500" cy="2857500"/>
          </a:xfrm>
          <a:prstGeom prst="ellipse">
            <a:avLst/>
          </a:prstGeom>
          <a:ln w="19050">
            <a:solidFill>
              <a:srgbClr val="1B44C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850" y="4410745"/>
            <a:ext cx="2057400" cy="2057400"/>
          </a:xfrm>
          <a:prstGeom prst="ellipse">
            <a:avLst/>
          </a:prstGeom>
          <a:ln w="19050">
            <a:solidFill>
              <a:srgbClr val="1B44C7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8850" y="4791745"/>
            <a:ext cx="1295400" cy="1295400"/>
          </a:xfrm>
          <a:prstGeom prst="ellipse">
            <a:avLst/>
          </a:prstGeom>
          <a:ln w="28575">
            <a:solidFill>
              <a:srgbClr val="1B44C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81275" y="5144170"/>
            <a:ext cx="590550" cy="590550"/>
          </a:xfrm>
          <a:prstGeom prst="ellipse">
            <a:avLst/>
          </a:prstGeom>
          <a:ln w="28575">
            <a:solidFill>
              <a:srgbClr val="1B4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0950" y="3763045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14400" y="7287295"/>
            <a:ext cx="17696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1B4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A · OPEN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7649245"/>
            <a:ext cx="3934792" cy="3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50" b="1" spc="-51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→ Creation.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8122593"/>
            <a:ext cx="4042029" cy="763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0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stays open and leaves a record. This one compounds.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981700" y="3659386"/>
            <a:ext cx="2857500" cy="2857500"/>
          </a:xfrm>
          <a:prstGeom prst="ellipse">
            <a:avLst/>
          </a:prstGeom>
          <a:ln w="19050">
            <a:solidFill>
              <a:srgbClr val="9E2B1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1275" y="4068961"/>
            <a:ext cx="2038350" cy="2038350"/>
          </a:xfrm>
          <a:prstGeom prst="ellipse">
            <a:avLst/>
          </a:prstGeom>
          <a:ln w="19050">
            <a:solidFill>
              <a:srgbClr val="9E2B1E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81800" y="4459486"/>
            <a:ext cx="1257300" cy="1257300"/>
          </a:xfrm>
          <a:prstGeom prst="ellipse">
            <a:avLst/>
          </a:prstGeom>
          <a:ln w="28575">
            <a:solidFill>
              <a:srgbClr val="9E2B1E">
                <a:alpha val="6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77075" y="4754761"/>
            <a:ext cx="666750" cy="666750"/>
          </a:xfrm>
          <a:prstGeom prst="ellipse">
            <a:avLst/>
          </a:prstGeom>
          <a:ln w="28575">
            <a:solidFill>
              <a:srgbClr val="9E2B1E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6625" y="4964311"/>
            <a:ext cx="247650" cy="247650"/>
          </a:xfrm>
          <a:prstGeom prst="ellipse">
            <a:avLst/>
          </a:prstGeom>
          <a:solidFill>
            <a:srgbClr val="9E2B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48300" y="6935986"/>
            <a:ext cx="20418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9E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B · CLOSED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8300" y="7297936"/>
            <a:ext cx="4042029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50" b="1" spc="-51" kern="0" dirty="0">
                <a:solidFill>
                  <a:srgbClr val="9E2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→ Consumption.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5448300" y="8111282"/>
            <a:ext cx="4042029" cy="112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0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exits. The spiral tightens until the habit lives your life for you.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11672888"/>
            <a:ext cx="93040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SPIRALS, ONE CHOICE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203533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ILLUSION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4027140"/>
            <a:ext cx="33092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5C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SPENT CONSUMING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8842697" y="4046190"/>
            <a:ext cx="60610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1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92%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498628"/>
            <a:ext cx="8458200" cy="552450"/>
          </a:xfrm>
          <a:prstGeom prst="rect">
            <a:avLst/>
          </a:prstGeom>
          <a:solidFill>
            <a:srgbClr val="E3E0D5"/>
          </a:solidFill>
          <a:ln w="9525">
            <a:solidFill>
              <a:srgbClr val="1C1A15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925" y="4508153"/>
            <a:ext cx="7763991" cy="533400"/>
          </a:xfrm>
          <a:prstGeom prst="rect">
            <a:avLst/>
          </a:prstGeom>
          <a:solidFill>
            <a:srgbClr val="9C948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660678"/>
            <a:ext cx="3143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5C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ACTUALLY REMEMBERED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9019356" y="5679728"/>
            <a:ext cx="42944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1" kern="0" dirty="0">
                <a:solidFill>
                  <a:srgbClr val="C98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8%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6132165"/>
            <a:ext cx="8458200" cy="552450"/>
          </a:xfrm>
          <a:prstGeom prst="rect">
            <a:avLst/>
          </a:prstGeom>
          <a:solidFill>
            <a:srgbClr val="E3E0D5"/>
          </a:solidFill>
          <a:ln w="9525">
            <a:solidFill>
              <a:srgbClr val="1C1A15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925" y="6141690"/>
            <a:ext cx="675084" cy="533400"/>
          </a:xfrm>
          <a:prstGeom prst="rect">
            <a:avLst/>
          </a:prstGeom>
          <a:solidFill>
            <a:srgbClr val="C98A1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7294215"/>
            <a:ext cx="33092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5C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APPLIED TO YOUR LIFE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9019356" y="7313265"/>
            <a:ext cx="42944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1" kern="0" dirty="0">
                <a:solidFill>
                  <a:srgbClr val="9E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7765703"/>
            <a:ext cx="8458200" cy="552450"/>
          </a:xfrm>
          <a:prstGeom prst="rect">
            <a:avLst/>
          </a:prstGeom>
          <a:solidFill>
            <a:srgbClr val="E3E0D5"/>
          </a:solidFill>
          <a:ln w="9525">
            <a:solidFill>
              <a:srgbClr val="1C1A15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925" y="7775228"/>
            <a:ext cx="38100" cy="533400"/>
          </a:xfrm>
          <a:prstGeom prst="rect">
            <a:avLst/>
          </a:prstGeom>
          <a:solidFill>
            <a:srgbClr val="9E2B1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11159505"/>
            <a:ext cx="9304020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“But I'm being productive.” </a:t>
            </a:r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9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productive at what, exactly?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11749088"/>
            <a:ext cx="930402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37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EBBINGHAUS FORGETTING CURVE · ~50% OF NEW INPUT LOST IN AN HOUR, ~70% WITHIN A DAY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135691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TEST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3550667"/>
            <a:ext cx="8711946" cy="221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300" b="1" spc="-325" kern="0" dirty="0">
                <a:solidFill>
                  <a:srgbClr val="1C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</a:t>
            </a:r>
            <a:pPr algn="l" indent="0" marL="0">
              <a:lnSpc>
                <a:spcPct val="92000"/>
              </a:lnSpc>
              <a:buNone/>
            </a:pPr>
            <a:r>
              <a:rPr lang="en-US" sz="9300" b="1" spc="-325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</a:t>
            </a:r>
            <a:pPr algn="l" indent="0" marL="0">
              <a:lnSpc>
                <a:spcPct val="92000"/>
              </a:lnSpc>
              <a:buNone/>
            </a:pPr>
            <a:r>
              <a:rPr lang="en-US" sz="9300" b="1" spc="-325" kern="0" dirty="0">
                <a:solidFill>
                  <a:srgbClr val="1C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it?</a:t>
            </a:r>
            <a:endParaRPr lang="en-US" sz="9300" dirty="0"/>
          </a:p>
        </p:txBody>
      </p:sp>
      <p:sp>
        <p:nvSpPr>
          <p:cNvPr id="6" name="Text 4"/>
          <p:cNvSpPr/>
          <p:nvPr/>
        </p:nvSpPr>
        <p:spPr>
          <a:xfrm>
            <a:off x="914400" y="6257255"/>
            <a:ext cx="843724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it after every hour of intake. If the honest answer is nothing, you were grazing, not learning.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7743155"/>
            <a:ext cx="8191500" cy="9525"/>
          </a:xfrm>
          <a:prstGeom prst="rect">
            <a:avLst/>
          </a:prstGeom>
          <a:solidFill>
            <a:srgbClr val="1C1A15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8000330"/>
            <a:ext cx="90106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E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TRAP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14400" y="8309893"/>
            <a:ext cx="8437245" cy="76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Familiarity masquerades as knowledge. Scrolling and re-reading make ideas </a:t>
            </a:r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6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learned; only trying to produce them reveals whether they are.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9127108"/>
            <a:ext cx="90106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THE ILLUSION OF COMPETENCE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14400" y="11672888"/>
            <a:ext cx="93040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PRODUCTIVITY ILLUSION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271383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INVERT THE RATIO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762375"/>
            <a:ext cx="4229100" cy="5334000"/>
          </a:xfrm>
          <a:prstGeom prst="rect">
            <a:avLst/>
          </a:prstGeom>
          <a:solidFill>
            <a:srgbClr val="E4E1D6"/>
          </a:solidFill>
          <a:ln w="9525">
            <a:solidFill>
              <a:srgbClr val="1C1A15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7325" y="4381500"/>
            <a:ext cx="3457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55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457325" y="5305425"/>
            <a:ext cx="345757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750" b="1" spc="-20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6750" dirty="0"/>
          </a:p>
        </p:txBody>
      </p:sp>
      <p:sp>
        <p:nvSpPr>
          <p:cNvPr id="8" name="Text 6"/>
          <p:cNvSpPr/>
          <p:nvPr/>
        </p:nvSpPr>
        <p:spPr>
          <a:xfrm>
            <a:off x="1457325" y="6229350"/>
            <a:ext cx="323754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scrolling for inspiration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57325" y="7734300"/>
            <a:ext cx="323754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6B6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borrowed energy, gone by evening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143500" y="3762375"/>
            <a:ext cx="4229100" cy="5334000"/>
          </a:xfrm>
          <a:prstGeom prst="rect">
            <a:avLst/>
          </a:prstGeom>
          <a:solidFill>
            <a:srgbClr val="1B44C7"/>
          </a:solidFill>
          <a:ln/>
        </p:spPr>
      </p:sp>
      <p:sp>
        <p:nvSpPr>
          <p:cNvPr id="11" name="Text 9"/>
          <p:cNvSpPr/>
          <p:nvPr/>
        </p:nvSpPr>
        <p:spPr>
          <a:xfrm>
            <a:off x="5676900" y="4371975"/>
            <a:ext cx="34785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55" kern="0" dirty="0">
                <a:solidFill>
                  <a:srgbClr val="B9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676900" y="5510213"/>
            <a:ext cx="347853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750" b="1" spc="-203" kern="0" dirty="0">
                <a:solidFill>
                  <a:srgbClr val="EF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6750" dirty="0"/>
          </a:p>
        </p:txBody>
      </p:sp>
      <p:sp>
        <p:nvSpPr>
          <p:cNvPr id="13" name="Text 11"/>
          <p:cNvSpPr/>
          <p:nvPr/>
        </p:nvSpPr>
        <p:spPr>
          <a:xfrm>
            <a:off x="5676900" y="6434138"/>
            <a:ext cx="347853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BE3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 &amp; paper, alone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676900" y="7743825"/>
            <a:ext cx="325716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EE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 week of your own material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648200" y="5934075"/>
            <a:ext cx="990600" cy="990600"/>
          </a:xfrm>
          <a:prstGeom prst="ellipse">
            <a:avLst/>
          </a:prstGeom>
          <a:solidFill>
            <a:srgbClr val="EFEDE4"/>
          </a:solidFill>
          <a:ln w="9525">
            <a:solidFill>
              <a:srgbClr val="1C1A15">
                <a:alpha val="19000"/>
              </a:srgbClr>
            </a:solidFill>
            <a:prstDash val="solid"/>
          </a:ln>
          <a:effectLst>
            <a:outerShdw sx="100000" sy="100000" kx="0" ky="0" algn="bl" rotWithShape="0" blurRad="285750" dist="9525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9625" y="5943600"/>
            <a:ext cx="10477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117" kern="0" dirty="0">
                <a:solidFill>
                  <a:srgbClr val="1C1A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11672888"/>
            <a:ext cx="93040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CLOCK. OPPOSITE LEDGER.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1C1A15">
                  <a:alpha val="9000"/>
                </a:srgbClr>
              </a:gs>
              <a:gs pos="100000">
                <a:srgbClr val="1C1A1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857250" dist="3810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914400"/>
            <a:ext cx="84720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293224" y="914400"/>
            <a:ext cx="115557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4008909"/>
            <a:ext cx="8711946" cy="3762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800" b="1" spc="-273" kern="0" dirty="0">
                <a:solidFill>
                  <a:srgbClr val="1B4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to create. </a:t>
            </a:r>
            <a:pPr algn="l" indent="0" marL="0">
              <a:lnSpc>
                <a:spcPct val="94000"/>
              </a:lnSpc>
              <a:buNone/>
            </a:pPr>
            <a:r>
              <a:rPr lang="en-US" sz="7800" b="1" spc="-273" kern="0" dirty="0">
                <a:solidFill>
                  <a:srgbClr val="9C9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the consuming does the creating of you.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914400" y="8343081"/>
            <a:ext cx="9304020" cy="5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slide was you? Save this for your next scroll.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" y="11672888"/>
            <a:ext cx="542759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9C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TOUSEEF SHAIK · TOUSEEFSHAIK.COM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8449196" y="11672888"/>
            <a:ext cx="99960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1B4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↩ SAVE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2026-07-04T08:56:18Z</dcterms:created>
  <dcterms:modified xsi:type="dcterms:W3CDTF">2026-07-04T08:56:18Z</dcterms:modified>
</cp:coreProperties>
</file>